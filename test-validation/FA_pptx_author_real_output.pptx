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 ($B)</c:v>
                </c:pt>
              </c:strCache>
            </c:strRef>
          </c:tx>
          <c:spPr>
            <a:solidFill>
              <a:srgbClr val="3A86C8"/>
            </a:solidFill>
          </c:spPr>
          <c:cat>
            <c:strRef>
              <c:f>Sheet1!$A$2:$A$8</c:f>
              <c:strCache>
                <c:ptCount val="7"/>
                <c:pt idx="0">
                  <c:v>2023</c:v>
                </c:pt>
                <c:pt idx="1">
                  <c:v>2024E</c:v>
                </c:pt>
                <c:pt idx="2">
                  <c:v>2025</c:v>
                </c:pt>
                <c:pt idx="3">
                  <c:v>2026F</c:v>
                </c:pt>
                <c:pt idx="4">
                  <c:v>2028F</c:v>
                </c:pt>
                <c:pt idx="5">
                  <c:v>2030F</c:v>
                </c:pt>
                <c:pt idx="6">
                  <c:v>2033F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189</c:v>
                </c:pt>
                <c:pt idx="1">
                  <c:v>280</c:v>
                </c:pt>
                <c:pt idx="2">
                  <c:v>391</c:v>
                </c:pt>
                <c:pt idx="3">
                  <c:v>510</c:v>
                </c:pt>
                <c:pt idx="4">
                  <c:v>860</c:v>
                </c:pt>
                <c:pt idx="5">
                  <c:v>1450</c:v>
                </c:pt>
                <c:pt idx="6">
                  <c:v>3497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NVIDIA</c:v>
                </c:pt>
              </c:strCache>
            </c:strRef>
          </c:tx>
          <c:spPr>
            <a:solidFill>
              <a:srgbClr val="3A86C8"/>
            </a:solidFill>
          </c:spPr>
          <c:cat>
            <c:strRef>
              <c:f>Sheet1!$A$2:$A$4</c:f>
              <c:strCache>
                <c:ptCount val="3"/>
                <c:pt idx="0">
                  <c:v>TTM P/E</c:v>
                </c:pt>
                <c:pt idx="1">
                  <c:v>Forward P/E</c:v>
                </c:pt>
                <c:pt idx="2">
                  <c:v>PEG (估)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43.5</c:v>
                </c:pt>
                <c:pt idx="1">
                  <c:v>23.9</c:v>
                </c:pt>
                <c:pt idx="2">
                  <c:v>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Microsoft</c:v>
                </c:pt>
              </c:strCache>
            </c:strRef>
          </c:tx>
          <c:spPr>
            <a:solidFill>
              <a:srgbClr val="27AE60"/>
            </a:solidFill>
          </c:spPr>
          <c:cat>
            <c:strRef>
              <c:f>Sheet1!$A$2:$A$4</c:f>
              <c:strCache>
                <c:ptCount val="3"/>
                <c:pt idx="0">
                  <c:v>TTM P/E</c:v>
                </c:pt>
                <c:pt idx="1">
                  <c:v>Forward P/E</c:v>
                </c:pt>
                <c:pt idx="2">
                  <c:v>PEG (估)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24.5</c:v>
                </c:pt>
                <c:pt idx="1">
                  <c:v>25.0</c:v>
                </c:pt>
                <c:pt idx="2">
                  <c:v>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Alphabet</c:v>
                </c:pt>
              </c:strCache>
            </c:strRef>
          </c:tx>
          <c:spPr>
            <a:solidFill>
              <a:srgbClr val="D4A517"/>
            </a:solidFill>
          </c:spPr>
          <c:cat>
            <c:strRef>
              <c:f>Sheet1!$A$2:$A$4</c:f>
              <c:strCache>
                <c:ptCount val="3"/>
                <c:pt idx="0">
                  <c:v>TTM P/E</c:v>
                </c:pt>
                <c:pt idx="1">
                  <c:v>Forward P/E</c:v>
                </c:pt>
                <c:pt idx="2">
                  <c:v>PEG (估)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29.2</c:v>
                </c:pt>
                <c:pt idx="1">
                  <c:v>28.0</c:v>
                </c:pt>
                <c:pt idx="2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AI行业投资主题分析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834640"/>
            <a:ext cx="3962095" cy="45720"/>
          </a:xfrm>
          <a:prstGeom prst="rect">
            <a:avLst/>
          </a:prstGeom>
          <a:solidFill>
            <a:srgbClr val="D4A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DD"/>
                </a:solidFill>
                <a:latin typeface="Calibri"/>
              </a:defRPr>
            </a:pPr>
            <a:r>
              <a:t>Artificial Intelligence Sector — Investment Thesis &amp;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2062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400" b="0">
                <a:solidFill>
                  <a:srgbClr val="DDDDDD"/>
                </a:solidFill>
                <a:latin typeface="Calibri"/>
              </a:defRPr>
            </a:pPr>
            <a:r>
              <a:t>聚焦标的：NVIDIA (NVDA) | Microsoft (MSFT) | Alphabet (GOOGL)</a:t>
            </a:r>
          </a:p>
          <a:p>
            <a:pPr algn="ctr">
              <a:spcAft>
                <a:spcPts val="1400"/>
              </a:spcAft>
              <a:defRPr sz="1400" b="0">
                <a:solidFill>
                  <a:srgbClr val="DDDDDD"/>
                </a:solidFill>
                <a:latin typeface="Calibri"/>
              </a:defRPr>
            </a:pPr>
            <a:r>
              <a:t>报告日期：2026年5月10日</a:t>
            </a:r>
          </a:p>
          <a:p>
            <a:pPr algn="ctr">
              <a:spcAft>
                <a:spcPts val="1400"/>
              </a:spcAft>
              <a:defRPr sz="1400" b="0">
                <a:solidFill>
                  <a:srgbClr val="DDDDDD"/>
                </a:solidFill>
                <a:latin typeface="Calibri"/>
              </a:defRPr>
            </a:pPr>
            <a:r>
              <a:t>数据来源：Grand View Research, Statista, Yahoo Finance, Reuters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全球AI市场规模 — 万亿级增长赛道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市场规模从2025年$391B预计增长至2033年$3.5T+，CAGR 30.6%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D4A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164592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年份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市场规模 (十亿美元)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同比增长率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$189B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$280B (估)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~48%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$391B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2026F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$510B (估)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2028F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$860B (估)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2030F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$1,450B (估)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2033F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$3,497B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CAGR 30.6%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关键增长驱动因素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79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1. 生成式AI爆发：ChatGPT/Copilot等应用推动企业级AI采用率飙升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2. 云基础设施投资：超大规模云厂商资本支出2025年超$3,000亿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3. 企业数字化转型：AI嵌入ERP/CRM/供应链等核心业务流程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4. AI芯片需求：GPU/TPU/AI加速器供不应求，NVIDIA独占鳌头</a:t>
            </a:r>
          </a:p>
          <a:p>
            <a:pPr algn="l">
              <a:spcAft>
                <a:spcPts val="879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5. 政策推动：各国AI战略和监管框架逐步落地，消除不确定性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数据来源：Grand View Research (2026), Statista, UNCTAD, MarketsandMarkets | 注：2026F及之后为预测值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5303520"/>
          <a:ext cx="10972800" cy="1280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机密 | 仅供内部使用 | AI行业投资主题分析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Calibri"/>
              </a:defRPr>
            </a:pPr>
            <a:r>
              <a:t>第 2 / 8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AI三巨头核心数据对比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NVIDIA、Microsoft、Alphabet — 2026年AI价值链核心标的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D4A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971800"/>
                <a:gridCol w="297180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NVIDIA (NVDA)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Microsoft (MSFT)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Alphabet (GOOGL)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市值 (2026年5月)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~$3.6-4.6T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~$3.0T (估)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~$3.99T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市盈率 (TTM P/E)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43.5x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24.5x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29.2x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Forward P/E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23.9x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最新季度营收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$68.1B (Q4 FY26)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&gt;$70B (估)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&gt;$90B (估)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YoY营收增长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AI相关资本支出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$91-93B (FY25)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$70-72B (+81% YoY)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核心AI优势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GPU/AI芯片垄断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Azure云+Copilot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Gemini+Google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AI收入增长亮点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数据中心收入暴涨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云增长26%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云增长48%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核心洞察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NVIDIA：AI算力基础设施绝对龙头，Forward P/E仅23.9x，估值相对增速具有吸引力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Microsoft：企业AI落地最佳平台，Azure+Copilot构成闭环生态，P/E最低(24.5x)估值最具性价比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Alphabet：Google Cloud增长48%领跑，Gemini模型能力持续提升，市值有望超越NVIDIA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机密 | 仅供内部使用 | AI行业投资主题分析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Calibri"/>
              </a:defRPr>
            </a:pPr>
            <a:r>
              <a:t>第 3 / 8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AI投资核心论点 — 三大关键驱动因素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结构性增长、盈利可见性、估值重估空间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D4A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474720" cy="73152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驱动因素一：AI基础设施</a:t>
            </a:r>
            <a:br/>
            <a:r>
              <a:t>支出周期远未结束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超大规模云厂商2025年AI相关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资本支出合计超$2,500亿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Microsoft FY25 Capex指引：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$91-93B (同比+60%+)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Alphabet Capex：$70-72B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(同比+81%)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NVIDIA数据中心收入持续创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历史新高，供需缺口仍在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47472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驱动因素二：AI从实验</a:t>
            </a:r>
            <a:br/>
            <a:r>
              <a:t>到规模化盈利转换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企业AI采用率从试点走向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生产级部署，ROI逐步验证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Copilot/Gemini等AI助手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推动SaaS ARPU提升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AI赋能广告、搜索、云服务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三大收入支柱同时受益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Google Cloud 48%增速验证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AI变现的加速度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474720" cy="7315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459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驱动因素三：估值仍有</a:t>
            </a:r>
            <a:br/>
            <a:r>
              <a:t>重估空间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NVIDIA Forward P/E 23.9x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远低于3年均值79x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Microsoft P/E 24.5x，在AI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受益标的中估值最低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AI市场CAGR 30.6%远超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传统科技增长水平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盈利增速持续超越股价涨幅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估值被动压缩带来配置窗口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机密 | 仅供内部使用 | AI行业投资主题分析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Calibri"/>
              </a:defRPr>
            </a:pPr>
            <a:r>
              <a:t>第 4 / 8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估值比较 — NVIDIA vs Microsoft vs Alphabet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基于2026年最新市场数据的估值矩阵分析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D4A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94560"/>
                <a:gridCol w="2194560"/>
                <a:gridCol w="219456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估值指标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NVIDIA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Alphabet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行业中位数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市盈率 (TTM P/E)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43.5x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Forward P/E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23.9x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~25x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~28x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~28x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P/E vs 3年均值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远低于79x均值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略低于均值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高于10年中位数27.75x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营收增速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+14%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PEG比率 (估)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~1.6x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 Capex强度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$91-93B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$70-72B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市值区间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$3.6-4.6T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~$3.0T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~$3.99T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估值结论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NVIDIA：Forward P/E 23.9x最具吸引力，PEG ~1.2x表明增长未被充分定价，但需关注AI芯片周期性风险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Microsoft：P/E 24.5x为三者最低，企业AI护城河深厚，Azure+Copilot组合提供最佳风险回报比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Alphabet：P/E 29.2x相对合理，Google Cloud 48%增长提供上行催化剂，但广告业务AI替代风险需关注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5669280"/>
          <a:ext cx="5486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机密 | 仅供内部使用 | AI行业投资主题分析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Calibri"/>
              </a:defRPr>
            </a:pPr>
            <a:r>
              <a:t>第 5 / 8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关键风险因素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AI投资面临的主要下行风险和不确定性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D4A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1. 监管风险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508760"/>
            <a:ext cx="914400" cy="320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风险: 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EU AI Act 2026年进入全面实施阶段，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高风险AI系统面临严格合规要求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69%的企业预计AI将引发合规问题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美欧监管分歧增加跨国运营复杂度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4864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2. 基础设施瓶颈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0" y="1508760"/>
            <a:ext cx="91440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风险: 中高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数据中心电力需求激增，部分地区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电力供应面临瓶颈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AI芯片产能扩张需要时间，供需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平衡点尚不确定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高杠杆AI生态对资本市场依赖度高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54864" cy="2286000"/>
          </a:xfrm>
          <a:prstGeom prst="rect">
            <a:avLst/>
          </a:prstGeom>
          <a:solidFill>
            <a:srgbClr val="D4A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3. 估值回调风险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4069080"/>
            <a:ext cx="914400" cy="320040"/>
          </a:xfrm>
          <a:prstGeom prst="rect">
            <a:avLst/>
          </a:prstGeom>
          <a:solidFill>
            <a:srgbClr val="D4A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风险: 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NVIDIA市值波动区间大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($3.6-4.6T)，市场情绪敏感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AI主题投资拥挤度升高，短期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获利了结压力存在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利率环境变化影响成长股估值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93192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931920"/>
            <a:ext cx="54864" cy="228600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4. 技术迭代风险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24160" y="4069080"/>
            <a:ext cx="914400" cy="320040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风险: 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262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AI模型架构快速演进可能改变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算力需求结构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新进入者（如Anthropic $380B）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可能颠覆现有格局</a:t>
            </a:r>
          </a:p>
          <a:p>
            <a:pPr algn="l">
              <a:spcAft>
                <a:spcPts val="399"/>
              </a:spcAft>
              <a:defRPr sz="1000" b="0">
                <a:solidFill>
                  <a:srgbClr val="333333"/>
                </a:solidFill>
                <a:latin typeface="Calibri"/>
              </a:defRPr>
            </a:pPr>
            <a:r>
              <a:t>开源模型崛起压缩商业模型利润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机密 | 仅供内部使用 | AI行业投资主题分析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Calibri"/>
              </a:defRPr>
            </a:pPr>
            <a:r>
              <a:t>第 6 / 8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投资结论与配置建议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Calibri"/>
              </a:defRPr>
            </a:pPr>
            <a:r>
              <a:t>基于综合分析的投资策略建议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D4A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3657600"/>
                <a:gridCol w="1188720"/>
                <a:gridCol w="36576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标的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评级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核心逻辑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配置权重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关键催化剂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NVIDIA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增持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AI算力垄断+Forward P/E 23.9x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估值压缩后配置窗口打开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下一代GPU发布;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数据中心收入超预期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增持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企业AI闭环生态+P/E 24.5x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风险回报比最优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Copilot付费转化率;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Azure增速维持26%+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Alphabet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中性偏多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Cloud增速48%领跑+搜索AI化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广告AI替代风险需监测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Cloud维持40%+增速;</a:t>
                      </a:r>
                    </a:p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Gemini模型能力突破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核心结论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市场判断：AI仍处于早期增长阶段，市场规模CAGR 30.6%为十年级别确定性机会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估值观点：三巨头Forward P/E均处于历史低位区间，盈利增速远超估值水平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配置建议：NVDA+MSFT为核心仓(70%)，GOOGL为卫星仓(30%)，注重再平衡纪律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时间窗口：2026年Q2-Q3为政策真空期+财报季窗口，适合逐步建仓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风控要点：设置15%止损线，关注AI Capex增速拐点和监管政策变化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Calibri"/>
              </a:defRPr>
            </a:pPr>
            <a:r>
              <a:t>机密 | 仅供内部使用 | AI行业投资主题分析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83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Calibri"/>
              </a:defRPr>
            </a:pPr>
            <a:r>
              <a:t>第 7 / 8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免责声明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20"/>
              </a:spcAft>
              <a:defRPr sz="1200" b="0">
                <a:solidFill>
                  <a:srgbClr val="BBCCDD"/>
                </a:solidFill>
                <a:latin typeface="Calibri"/>
              </a:defRPr>
            </a:pPr>
            <a:r>
              <a:t>本报告仅供内部参考，不构成任何投资建议。</a:t>
            </a:r>
          </a:p>
          <a:p>
            <a:pPr algn="ctr">
              <a:spcAft>
                <a:spcPts val="720"/>
              </a:spcAft>
              <a:defRPr sz="1200" b="0">
                <a:solidFill>
                  <a:srgbClr val="BBCCDD"/>
                </a:solidFill>
                <a:latin typeface="Calibri"/>
              </a:defRPr>
            </a:pPr>
            <a:r>
              <a:t>报告中的数据来源于公开市场信息和第三方研究机构，</a:t>
            </a:r>
          </a:p>
          <a:p>
            <a:pPr algn="ctr">
              <a:spcAft>
                <a:spcPts val="720"/>
              </a:spcAft>
              <a:defRPr sz="1200" b="0">
                <a:solidFill>
                  <a:srgbClr val="BBCCDD"/>
                </a:solidFill>
                <a:latin typeface="Calibri"/>
              </a:defRPr>
            </a:pPr>
            <a:r>
              <a:t>包括但不限于 Grand View Research、Statista、Yahoo Finance、</a:t>
            </a:r>
          </a:p>
          <a:p>
            <a:pPr algn="ctr">
              <a:spcAft>
                <a:spcPts val="720"/>
              </a:spcAft>
              <a:defRPr sz="1200" b="0">
                <a:solidFill>
                  <a:srgbClr val="BBCCDD"/>
                </a:solidFill>
                <a:latin typeface="Calibri"/>
              </a:defRPr>
            </a:pPr>
            <a:r>
              <a:t>Reuters、Motley Fool、AllInvestView 等。</a:t>
            </a:r>
          </a:p>
          <a:p>
            <a:pPr algn="ctr">
              <a:spcAft>
                <a:spcPts val="720"/>
              </a:spcAft>
              <a:defRPr sz="1200" b="0">
                <a:solidFill>
                  <a:srgbClr val="BBCCDD"/>
                </a:solidFill>
                <a:latin typeface="Calibri"/>
              </a:defRPr>
            </a:pPr>
          </a:p>
          <a:p>
            <a:pPr algn="ctr">
              <a:spcAft>
                <a:spcPts val="720"/>
              </a:spcAft>
              <a:defRPr sz="1200" b="0">
                <a:solidFill>
                  <a:srgbClr val="BBCCDD"/>
                </a:solidFill>
                <a:latin typeface="Calibri"/>
              </a:defRPr>
            </a:pPr>
            <a:r>
              <a:t>所有预测性陈述基于当前市场条件和公开信息，</a:t>
            </a:r>
          </a:p>
          <a:p>
            <a:pPr algn="ctr">
              <a:spcAft>
                <a:spcPts val="720"/>
              </a:spcAft>
              <a:defRPr sz="1200" b="0">
                <a:solidFill>
                  <a:srgbClr val="BBCCDD"/>
                </a:solidFill>
                <a:latin typeface="Calibri"/>
              </a:defRPr>
            </a:pPr>
            <a:r>
              <a:t>实际结果可能与预测存在重大差异。</a:t>
            </a:r>
          </a:p>
          <a:p>
            <a:pPr algn="ctr">
              <a:spcAft>
                <a:spcPts val="720"/>
              </a:spcAft>
              <a:defRPr sz="1200" b="0">
                <a:solidFill>
                  <a:srgbClr val="BBCCDD"/>
                </a:solidFill>
                <a:latin typeface="Calibri"/>
              </a:defRPr>
            </a:pPr>
            <a:r>
              <a:t>投资者应基于自身情况独立做出投资决策。</a:t>
            </a:r>
          </a:p>
          <a:p>
            <a:pPr algn="ctr">
              <a:spcAft>
                <a:spcPts val="720"/>
              </a:spcAft>
              <a:defRPr sz="1200" b="0">
                <a:solidFill>
                  <a:srgbClr val="BBCCDD"/>
                </a:solidFill>
                <a:latin typeface="Calibri"/>
              </a:defRPr>
            </a:pPr>
          </a:p>
          <a:p>
            <a:pPr algn="ctr">
              <a:spcAft>
                <a:spcPts val="720"/>
              </a:spcAft>
              <a:defRPr sz="1200" b="0">
                <a:solidFill>
                  <a:srgbClr val="BBCCDD"/>
                </a:solidFill>
                <a:latin typeface="Calibri"/>
              </a:defRPr>
            </a:pPr>
            <a:r>
              <a:t>数据截止日期：2026年5月10日</a:t>
            </a:r>
          </a:p>
          <a:p>
            <a:pPr algn="ctr">
              <a:spcAft>
                <a:spcPts val="720"/>
              </a:spcAft>
              <a:defRPr sz="1200" b="0">
                <a:solidFill>
                  <a:srgbClr val="BBCCDD"/>
                </a:solidFill>
                <a:latin typeface="Calibri"/>
              </a:defRPr>
            </a:pPr>
          </a:p>
          <a:p>
            <a:pPr algn="ctr">
              <a:spcAft>
                <a:spcPts val="720"/>
              </a:spcAft>
              <a:defRPr sz="1200" b="0">
                <a:solidFill>
                  <a:srgbClr val="BBCCDD"/>
                </a:solidFill>
                <a:latin typeface="Calibri"/>
              </a:defRPr>
            </a:pPr>
            <a:r>
              <a:t>CONFIDENTIAL — FOR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