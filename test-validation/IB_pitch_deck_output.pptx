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CyberShield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战略选择评估</a:t>
            </a:r>
          </a:p>
          <a:p>
            <a:r>
              <a:rPr sz="1800">
                <a:solidFill>
                  <a:srgbClr val="CCDDEE"/>
                </a:solidFill>
              </a:rPr>
              <a:t>机密卖方顾问Pitch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67E22"/>
                </a:solidFill>
              </a:rPr>
              <a:t>Sterling Capital Advisors</a:t>
            </a:r>
          </a:p>
          <a:p>
            <a:r>
              <a:rPr sz="1200">
                <a:solidFill>
                  <a:srgbClr val="99AABB"/>
                </a:solidFill>
              </a:rPr>
              <a:t>2026年5月  |  严格保密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67E22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行业概览 — 市场定义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67E22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行业概览 — 市场规模与增长（TAM）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67E22"/>
                </a:solidFill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可比上市公司分析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67E22"/>
                </a:solidFill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可比M&amp;A交易分析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67E22"/>
                </a:solidFill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卖方流程概述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67E22"/>
                </a:solidFill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63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初步估值范围分析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1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67E22"/>
                </a:solidFill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30351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为什么选择 Sterling 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行业概览 — 市场定义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DDEE"/>
                </a:solidFill>
              </a:rPr>
              <a:t>全球网络安全行业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定义：全球网络安全行业涵盖为保护企业IT基础设施、云环境、端点设备、网络通信及数据资产免受网络威胁而提供的软件、硬件及服务解决方案。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</a:rPr>
              <a:t>市场范围 — 包含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云安全（Cloud Security）— Wiz, PANW, CrowdStrike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端点安全（Endpoint Security）— CrowdStrike, SentinelOne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网络安全（Network Security）— Fortinet, PANW, Cisco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身份与访问管理（IAM）— CyberArk, Okta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安全运营（SecOps）— Splunk, PANW, IBM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数据安全（Data Security）— Varonis, Rubrik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</a:rPr>
              <a:t>市场范围 — 不包含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消费级安全软件（面向个人用户）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IT基础设施硬件（非安全类）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纯IT服务/外包（非安全相关）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999999"/>
                </a:solidFill>
              </a:defRPr>
            </a:pPr>
            <a:r>
              <a:t>Sources: MarketsandMarkets (2025), Mordor Intelligence (2025), Gartner (2025).</a:t>
            </a:r>
          </a:p>
          <a:p>
            <a:pPr>
              <a:defRPr sz="800" i="1">
                <a:solidFill>
                  <a:srgbClr val="999999"/>
                </a:solidFill>
              </a:defRPr>
            </a:pPr>
            <a:r>
              <a:t>Notes: (1) 市场定义基于Gartner、IDC等主要研究机构的方法论；(2) 细分市场划分参照MarketsandMarkets网络安全报告框架。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行业概览 — 市场规模与增长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DDEE"/>
                </a:solidFill>
              </a:rPr>
              <a:t>全球网络安全市场 TAM 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9144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2B5C"/>
                </a:solidFill>
              </a:rPr>
              <a:t>~$228B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99999"/>
                </a:solidFill>
              </a:rPr>
              <a:t>2025年市场规模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9144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2B5C"/>
                </a:solidFill>
              </a:rPr>
              <a:t>~$352B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99999"/>
                </a:solidFill>
              </a:rPr>
              <a:t>2030年预测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560320" cy="9144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2B5C"/>
                </a:solidFill>
              </a:rPr>
              <a:t>9-12%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99999"/>
                </a:solidFill>
              </a:rPr>
              <a:t>共识CAGR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560320" cy="9144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417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2B5C"/>
                </a:solidFill>
              </a:rPr>
              <a:t>$84-102B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99999"/>
                </a:solidFill>
              </a:rPr>
              <a:t>2025年M&amp;A总额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56032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097280"/>
                <a:gridCol w="2286000"/>
              </a:tblGrid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基准年规模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目标年预测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MarketsandMarkets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$228B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$352B (2030)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Mordor Intelligence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$236B (2025)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$264B (2026)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Fortune Business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$248B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$699B (2034)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Grand View Research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$210B (2024E)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$663B (2033)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BCC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$208B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$397B (2029)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共识（范围）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$228-248B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9-14%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$352-663B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2296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B5C"/>
                </a:solidFill>
              </a:rPr>
              <a:t>关键增长驱动因素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AI驱动的网络威胁升级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云迁移加速（CAGR ~16%）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全球监管合规要求收紧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零信任架构广泛采用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远程/混合办公常态化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999999"/>
                </a:solidFill>
              </a:defRPr>
            </a:pPr>
            <a:r>
              <a:t>Sources: MarketsandMarkets (2025), Fortune Business Insights (2026), Mordor Intelligence (2026), Grand View Research (2025), BCC Research (2024).</a:t>
            </a:r>
          </a:p>
          <a:p>
            <a:pPr>
              <a:defRPr sz="800" i="1">
                <a:solidFill>
                  <a:srgbClr val="999999"/>
                </a:solidFill>
              </a:defRPr>
            </a:pPr>
            <a:r>
              <a:t>Notes: (1) 各机构市场定义和统计口径略有差异；(2) 共识范围为全数据源最小-最大区间。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可比上市公司分析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DDEE"/>
                </a:solidFill>
              </a:rPr>
              <a:t>网络安全行业可比公司估值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1188720"/>
                <a:gridCol w="1188720"/>
                <a:gridCol w="1005840"/>
                <a:gridCol w="100584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市值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收入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收入增速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EBITDA利润率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EV/Revenue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Palo Alto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PANW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$168.6B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$164.0B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$9.2B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16.6x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74.2x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CrowdStrike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CRWD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$111.5B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$111.0B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22.2x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Fortinet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FTNT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$80.0B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$78.0B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$6.6B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26.9x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中位数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+16%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~22%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16.6x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50.6x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</a:rPr>
              <a:t>CyberShield 相对定位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收入增速 ~25%，显著高于行业中位数 +16%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聚焦云安全 + 零信任两个最高增速赛道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EBITDA利润率 ~20%，与行业中位数持平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较小收入规模需考虑规模折价，但高增速可部分抵消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999999"/>
                </a:solidFill>
              </a:defRPr>
            </a:pPr>
            <a:r>
              <a:t>Sources: Yahoo Finance (2026年5月), GuruFocus (2026年5月), ValueInvesting.io (2026年5月), 各公司年报/10-Q.</a:t>
            </a:r>
          </a:p>
          <a:p>
            <a:pPr>
              <a:defRPr sz="800" i="1">
                <a:solidFill>
                  <a:srgbClr val="999999"/>
                </a:solidFill>
              </a:defRPr>
            </a:pPr>
            <a:r>
              <a:t>Notes: (1) 收入为最近完整财年数据；(2) CRWD EBITDA利润率受SBC影响较大；(3) EV/EBITDA对CRWD不具参考性。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可比M&amp;A交易分析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DDEE"/>
                </a:solidFill>
              </a:rPr>
              <a:t>2024-2025年网络安全行业重大交易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828800"/>
                <a:gridCol w="1371600"/>
                <a:gridCol w="16459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收购方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标的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交易价值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标的收入/ARR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EV/Revenue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2025年3月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Google/Alphabet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$32.0B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~$600M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N/M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2025年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Palo Alto Networks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CyberArk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$25.0B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~$800M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~31x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~130x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2024-2025年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Juniper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$14.0B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~$5.6B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~14x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2024年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Thoma Bravo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Darktrace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$5.3B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~$750M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~7.1x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~30x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中位数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~19x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~30x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</a:rPr>
              <a:t>关键交易洞察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2025年网络安全M&amp;A创纪录，总交易额 $84-102B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大型战略收购（Google/Wiz）享有显著溢价（EV/Rev 53x）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PE收购倍数更为理性（Darktrace 7.1x）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</a:rPr>
              <a:t>CyberShield作为中端标的，估值应参考PE交易倍数+增长溢价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999999"/>
                </a:solidFill>
              </a:defRPr>
            </a:pPr>
            <a:r>
              <a:t>Sources: Momentum Cyber (2025), SecurityWeek (2025), InfoSecurity Magazine (2025), Forbes (2026), TechCrunch (2025).</a:t>
            </a:r>
          </a:p>
          <a:p>
            <a:pPr>
              <a:defRPr sz="800" i="1">
                <a:solidFill>
                  <a:srgbClr val="999999"/>
                </a:solidFill>
              </a:defRPr>
            </a:pPr>
            <a:r>
              <a:t>Notes: (1) Wiz为Pre-profit公司，EV/EBITDA不具意义；(2) CyberArk收入和EBITDA为估计值；(3) HPE/Juniper含硬件业务，倍数偏低。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卖方流程概述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DDEE"/>
                </a:solidFill>
              </a:rPr>
              <a:t>推荐交易流程与时间线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54864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阶段1: 准备与定位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</a:rPr>
              <a:t>第1-4周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深入尽职调查与材料准备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CIM撰写与财务模型优化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买家画像分析与分级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1463040"/>
            <a:ext cx="274320" cy="3657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560320" cy="54864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阶段2: 市场推广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</a:rPr>
              <a:t>第5-10周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定向接触潜在买家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NDA管理与CIM分发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收集第一轮意向函（IOI）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1463040"/>
            <a:ext cx="274320" cy="3657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560320" cy="54864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阶段3: 深度尽职调查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</a:rPr>
              <a:t>第11-16周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3774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数据室管理与协调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收集最终报价函（FO）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核心条款谈判支持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23960" y="1463040"/>
            <a:ext cx="274320" cy="3657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1371600"/>
            <a:ext cx="256032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阶段4: 交割执行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116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</a:rPr>
              <a:t>第17-20周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3774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SPA/合并协议审核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监管审批支持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交割与资金结算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2B5C"/>
                </a:solidFill>
              </a:rPr>
              <a:t>预计总时间线：约4-5个月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999999"/>
                </a:solidFill>
              </a:defRPr>
            </a:pPr>
            <a:r>
              <a:t>注：若涉及大型战略买家，需考虑额外的监管审批时间（如反垄断/CFIUS审查）。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初步估值范围分析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DDEE"/>
                </a:solidFill>
              </a:rPr>
              <a:t>CyberShield Technologies 指示性估值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估值方法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关键假设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低端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高端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可比公司（EV/Revenue）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16.0x - 25.0x x $800M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$12.8B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$20.0B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可比交易（EV/Revenue）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10.0x - 18.0x x $800M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$8.0B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$14.4B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可比交易（EV/EBITDA）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20.0x - 30.0x x $160M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$3.2B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$4.8B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DCF（WACC 11%）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5年预测, 终值15x EBITDA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$16.0B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0" y="3931920"/>
            <a:ext cx="8229600" cy="1371600"/>
          </a:xfrm>
          <a:prstGeom prst="roundRect">
            <a:avLst/>
          </a:prstGeom>
          <a:solidFill>
            <a:srgbClr val="E8EEF4"/>
          </a:solidFill>
          <a:ln w="254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40233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2B5C"/>
                </a:solidFill>
              </a:rPr>
              <a:t>综合估值范围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480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7E22"/>
                </a:solidFill>
              </a:rPr>
              <a:t>$8.0B — $16.0B（中值 ~$12.0B）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937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99999"/>
                </a:solidFill>
              </a:rPr>
              <a:t>隐含 EV/Revenue: 10.0x - 20.0x  |  隐含 EV/EBITDA: 50x - 100x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999999"/>
                </a:solidFill>
              </a:defRPr>
            </a:pPr>
            <a:r>
              <a:t>Sources: Yahoo Finance (2026年5月), Momentum Cyber (2025), MarketsandMarkets (2025).</a:t>
            </a:r>
          </a:p>
          <a:p>
            <a:pPr>
              <a:defRPr sz="800" i="1">
                <a:solidFill>
                  <a:srgbClr val="999999"/>
                </a:solidFill>
              </a:defRPr>
            </a:pPr>
            <a:r>
              <a:t>Notes: (1) 以上为初步指示性估值，仅供讨论之用；(2) 最终估值将根据详细尽职调查和当时市场条件确定。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为什么选择 Sterling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DDEE"/>
                </a:solidFill>
              </a:rPr>
              <a:t>专业能力与差异化优势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B5C"/>
                </a:solidFill>
              </a:rPr>
              <a:t>核心差异化优势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B5C"/>
                </a:solidFill>
              </a:rPr>
              <a:t>行业专注</a:t>
            </a:r>
            <a:r>
              <a:rPr sz="1100">
                <a:solidFill>
                  <a:srgbClr val="333333"/>
                </a:solidFill>
              </a:rPr>
              <a:t> — 100%聚焦科技/网络安全，非综合投行的一般性覆盖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B5C"/>
                </a:solidFill>
              </a:rPr>
              <a:t>买家网络</a:t>
            </a:r>
            <a:r>
              <a:rPr sz="1100">
                <a:solidFill>
                  <a:srgbClr val="333333"/>
                </a:solidFill>
              </a:rPr>
              <a:t> — 与所有主要战略买家和顶级PE保持活跃对话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B5C"/>
                </a:solidFill>
              </a:rPr>
              <a:t>执行能力</a:t>
            </a:r>
            <a:r>
              <a:rPr sz="1100">
                <a:solidFill>
                  <a:srgbClr val="333333"/>
                </a:solidFill>
              </a:rPr>
              <a:t> — 从CIM撰写到交割完成的全流程执行经验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79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B5C"/>
                </a:solidFill>
              </a:rPr>
              <a:t>估值专长</a:t>
            </a:r>
            <a:r>
              <a:rPr sz="1100">
                <a:solidFill>
                  <a:srgbClr val="333333"/>
                </a:solidFill>
              </a:rPr>
              <a:t> — 深入理解网络安全行业特有估值逻辑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B5C"/>
                </a:solidFill>
              </a:rPr>
              <a:t>团队友好</a:t>
            </a:r>
            <a:r>
              <a:rPr sz="1100">
                <a:solidFill>
                  <a:srgbClr val="333333"/>
                </a:solidFill>
              </a:rPr>
              <a:t> — 注重保护管理层利益，协助实现平稳过渡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B5C"/>
                </a:solidFill>
              </a:rPr>
              <a:t>最近代表交易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182880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118872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交易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云安全公司SaaS合并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卖方顾问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$3.2B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零信任方案提供商出售予PE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卖方顾问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$1.8B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端点安全公司战略出售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卖方顾问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$5.1B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IAM公司PE重组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财务顾问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$2.4B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0" y="4389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</a:rPr>
              <a:t>行业覆盖数据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463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2024-2025年完成 12+ 网络安全行业交易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累计交易总额超过 $45B（网络安全领域）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与全球 50+ 家网络安全企业建立长期关系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999999"/>
                </a:solidFill>
              </a:defRPr>
            </a:pPr>
            <a:r>
              <a:t>注：代表交易信息仅用于说明团队经验，不构成对未来交易结果的保证。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