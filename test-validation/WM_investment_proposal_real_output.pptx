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配置</c:v>
                </c:pt>
              </c:strCache>
            </c:strRef>
          </c:tx>
          <c:dPt>
            <c:idx val="0"/>
            <c:spPr>
              <a:solidFill>
                <a:srgbClr val="1B2A4A"/>
              </a:solidFill>
            </c:spPr>
          </c:dPt>
          <c:dPt>
            <c:idx val="1"/>
            <c:spPr>
              <a:solidFill>
                <a:srgbClr val="2E86C1"/>
              </a:solidFill>
            </c:spPr>
          </c:dPt>
          <c:dPt>
            <c:idx val="2"/>
            <c:spPr>
              <a:solidFill>
                <a:srgbClr val="3498DB"/>
              </a:solidFill>
            </c:spPr>
          </c:dPt>
          <c:dPt>
            <c:idx val="3"/>
            <c:spPr>
              <a:solidFill>
                <a:srgbClr val="1ABC9C"/>
              </a:solidFill>
            </c:spPr>
          </c:dPt>
          <c:dPt>
            <c:idx val="4"/>
            <c:spPr>
              <a:solidFill>
                <a:srgbClr val="16A085"/>
              </a:solidFill>
            </c:spPr>
          </c:dPt>
          <c:dPt>
            <c:idx val="5"/>
            <c:spPr>
              <a:solidFill>
                <a:srgbClr val="27AE60"/>
              </a:solidFill>
            </c:spPr>
          </c:dPt>
          <c:dPt>
            <c:idx val="6"/>
            <c:spPr>
              <a:solidFill>
                <a:srgbClr val="D4A01E"/>
              </a:solidFill>
            </c:spPr>
          </c:dPt>
          <c:dPt>
            <c:idx val="7"/>
            <c:spPr>
              <a:solidFill>
                <a:srgbClr val="8E44AD"/>
              </a:solidFill>
            </c:spPr>
          </c:dPt>
          <c:dPt>
            <c:idx val="8"/>
            <c:spPr>
              <a:solidFill>
                <a:srgbClr val="95A5A6"/>
              </a:solidFill>
            </c:spPr>
          </c:dPt>
          <c:dPt>
            <c:idx val="9"/>
            <c:spPr>
              <a:solidFill>
                <a:srgbClr val="85929E"/>
              </a:solidFill>
            </c:spPr>
          </c:dPt>
          <c:cat>
            <c:strRef>
              <c:f>Sheet1!$A$2:$A$11</c:f>
              <c:strCache>
                <c:ptCount val="10"/>
                <c:pt idx="0">
                  <c:v>美国大盘股</c:v>
                </c:pt>
                <c:pt idx="1">
                  <c:v>国际发达</c:v>
                </c:pt>
                <c:pt idx="2">
                  <c:v>新兴市场</c:v>
                </c:pt>
                <c:pt idx="3">
                  <c:v>投资级债券</c:v>
                </c:pt>
                <c:pt idx="4">
                  <c:v>TIPS</c:v>
                </c:pt>
                <c:pt idx="5">
                  <c:v>ESG主题</c:v>
                </c:pt>
                <c:pt idx="6">
                  <c:v>黄金/商品</c:v>
                </c:pt>
                <c:pt idx="7">
                  <c:v>REITs</c:v>
                </c:pt>
                <c:pt idx="8">
                  <c:v>另类策略</c:v>
                </c:pt>
                <c:pt idx="9">
                  <c:v>现金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</c:v>
                </c:pt>
                <c:pt idx="1">
                  <c:v>15</c:v>
                </c:pt>
                <c:pt idx="2">
                  <c:v>5</c:v>
                </c:pt>
                <c:pt idx="3">
                  <c:v>20</c:v>
                </c:pt>
                <c:pt idx="4">
                  <c:v>5</c:v>
                </c:pt>
                <c:pt idx="5">
                  <c:v>8</c:v>
                </c:pt>
                <c:pt idx="6">
                  <c:v>5</c:v>
                </c:pt>
                <c:pt idx="7">
                  <c:v>7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科技股集中度变化路径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科技股权重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Sheet1!$A$2:$A$6</c:f>
              <c:strCache>
                <c:ptCount val="5"/>
                <c:pt idx="0">
                  <c:v>当前</c:v>
                </c:pt>
                <c:pt idx="1">
                  <c:v>第1年末</c:v>
                </c:pt>
                <c:pt idx="2">
                  <c:v>第2年末</c:v>
                </c:pt>
                <c:pt idx="3">
                  <c:v>第3年末</c:v>
                </c:pt>
                <c:pt idx="4">
                  <c:v>目标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50</c:v>
                </c:pt>
                <c:pt idx="2">
                  <c:v>30</c:v>
                </c:pt>
                <c:pt idx="3">
                  <c:v>15</c:v>
                </c:pt>
                <c:pt idx="4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风险指标对比（%）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当前持仓</c:v>
                </c:pt>
              </c:strCache>
            </c:strRef>
          </c:tx>
          <c:spPr>
            <a:solidFill>
              <a:srgbClr val="E74C3C"/>
            </a:solidFill>
          </c:spPr>
          <c:cat>
            <c:strRef>
              <c:f>Sheet1!$A$2:$A$4</c:f>
              <c:strCache>
                <c:ptCount val="3"/>
                <c:pt idx="0">
                  <c:v>最大回撤</c:v>
                </c:pt>
                <c:pt idx="1">
                  <c:v>年化波动率</c:v>
                </c:pt>
                <c:pt idx="2">
                  <c:v>科技股集中度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22</c:v>
                </c:pt>
                <c:pt idx="2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建议组合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Sheet1!$A$2:$A$4</c:f>
              <c:strCache>
                <c:ptCount val="3"/>
                <c:pt idx="0">
                  <c:v>最大回撤</c:v>
                </c:pt>
                <c:pt idx="1">
                  <c:v>年化波动率</c:v>
                </c:pt>
                <c:pt idx="2">
                  <c:v>科技股集中度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</c:v>
                </c:pt>
                <c:pt idx="1">
                  <c:v>10.5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组合增长路径（百万美元）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保守 4%</c:v>
                </c:pt>
              </c:strCache>
            </c:strRef>
          </c:tx>
          <c:spPr>
            <a:ln w="31750">
              <a:solidFill>
                <a:srgbClr val="85929E"/>
              </a:solidFill>
            </a:ln>
          </c:spPr>
          <c:cat>
            <c:strRef>
              <c:f>Sheet1!$A$2:$A$7</c:f>
              <c:strCache>
                <c:ptCount val="6"/>
                <c:pt idx="0">
                  <c:v>现在</c:v>
                </c:pt>
                <c:pt idx="1">
                  <c:v>第3年</c:v>
                </c:pt>
                <c:pt idx="2">
                  <c:v>第6年</c:v>
                </c:pt>
                <c:pt idx="3">
                  <c:v>第9年</c:v>
                </c:pt>
                <c:pt idx="4">
                  <c:v>第12年</c:v>
                </c:pt>
                <c:pt idx="5">
                  <c:v>第15年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3.37</c:v>
                </c:pt>
                <c:pt idx="2">
                  <c:v>3.79</c:v>
                </c:pt>
                <c:pt idx="3">
                  <c:v>4.27</c:v>
                </c:pt>
                <c:pt idx="4">
                  <c:v>4.8</c:v>
                </c:pt>
                <c:pt idx="5">
                  <c:v>5.4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基准 6.5%</c:v>
                </c:pt>
              </c:strCache>
            </c:strRef>
          </c:tx>
          <c:spPr>
            <a:ln w="31750">
              <a:solidFill>
                <a:srgbClr val="2E86C1"/>
              </a:solidFill>
            </a:ln>
          </c:spPr>
          <c:cat>
            <c:strRef>
              <c:f>Sheet1!$A$2:$A$7</c:f>
              <c:strCache>
                <c:ptCount val="6"/>
                <c:pt idx="0">
                  <c:v>现在</c:v>
                </c:pt>
                <c:pt idx="1">
                  <c:v>第3年</c:v>
                </c:pt>
                <c:pt idx="2">
                  <c:v>第6年</c:v>
                </c:pt>
                <c:pt idx="3">
                  <c:v>第9年</c:v>
                </c:pt>
                <c:pt idx="4">
                  <c:v>第12年</c:v>
                </c:pt>
                <c:pt idx="5">
                  <c:v>第15年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3.0</c:v>
                </c:pt>
                <c:pt idx="1">
                  <c:v>3.63</c:v>
                </c:pt>
                <c:pt idx="2">
                  <c:v>4.39</c:v>
                </c:pt>
                <c:pt idx="3">
                  <c:v>5.3</c:v>
                </c:pt>
                <c:pt idx="4">
                  <c:v>6.4</c:v>
                </c:pt>
                <c:pt idx="5">
                  <c:v>7.9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乐观 8.5%</c:v>
                </c:pt>
              </c:strCache>
            </c:strRef>
          </c:tx>
          <c:spPr>
            <a:ln w="31750">
              <a:solidFill>
                <a:srgbClr val="27AE60"/>
              </a:solidFill>
            </a:ln>
          </c:spPr>
          <c:cat>
            <c:strRef>
              <c:f>Sheet1!$A$2:$A$7</c:f>
              <c:strCache>
                <c:ptCount val="6"/>
                <c:pt idx="0">
                  <c:v>现在</c:v>
                </c:pt>
                <c:pt idx="1">
                  <c:v>第3年</c:v>
                </c:pt>
                <c:pt idx="2">
                  <c:v>第6年</c:v>
                </c:pt>
                <c:pt idx="3">
                  <c:v>第9年</c:v>
                </c:pt>
                <c:pt idx="4">
                  <c:v>第12年</c:v>
                </c:pt>
                <c:pt idx="5">
                  <c:v>第15年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3.0</c:v>
                </c:pt>
                <c:pt idx="1">
                  <c:v>3.84</c:v>
                </c:pt>
                <c:pt idx="2">
                  <c:v>4.91</c:v>
                </c:pt>
                <c:pt idx="3">
                  <c:v>6.28</c:v>
                </c:pt>
                <c:pt idx="4">
                  <c:v>8.04</c:v>
                </c:pt>
                <c:pt idx="5">
                  <c:v>10.2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828800"/>
            <a:ext cx="27432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王女士专属投资建议书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E86C1"/>
                </a:solidFill>
                <a:latin typeface="Microsoft YaHei"/>
              </a:defRPr>
            </a:pPr>
            <a:r>
              <a:t>诚智财富管理 | ChenZhi Wealth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5929E"/>
                </a:solidFill>
                <a:latin typeface="Microsoft YaHei"/>
              </a:defRPr>
            </a:pPr>
            <a:r>
              <a:t>2026年5月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01E"/>
                </a:solidFill>
                <a:latin typeface="Microsoft YaHei"/>
              </a:defRPr>
            </a:pPr>
            <a:r>
              <a:t>保密 — 仅限王女士本人查阅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669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SEC注册投资顾问</a:t>
            </a:r>
            <a:br/>
            <a:r>
              <a:t>California | New York | Seattle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4008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64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关于诚智财富管理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93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929E"/>
                </a:solidFill>
                <a:latin typeface="Microsoft YaHei"/>
              </a:defRPr>
            </a:pPr>
            <a:r>
              <a:t>公司概况、投资理念、服务团队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64008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41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理解您的需求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70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929E"/>
                </a:solidFill>
                <a:latin typeface="Microsoft YaHei"/>
              </a:defRPr>
            </a:pPr>
            <a:r>
              <a:t>核心挑战与成功定义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64008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18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建议投资策略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47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929E"/>
                </a:solidFill>
                <a:latin typeface="Microsoft YaHei"/>
              </a:defRPr>
            </a:pPr>
            <a:r>
              <a:t>资产配置、税务优化、过渡计划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77639"/>
            <a:ext cx="64008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9592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预期收益情景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25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929E"/>
                </a:solidFill>
                <a:latin typeface="Microsoft YaHei"/>
              </a:defRPr>
            </a:pPr>
            <a:r>
              <a:t>三种情景分析与蒙特卡洛模拟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64008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73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费用结构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02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929E"/>
                </a:solidFill>
                <a:latin typeface="Microsoft YaHei"/>
              </a:defRPr>
            </a:pPr>
            <a:r>
              <a:t>费率详情与行业对比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532120"/>
            <a:ext cx="64008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55040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如何开始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879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929E"/>
                </a:solidFill>
                <a:latin typeface="Microsoft YaHei"/>
              </a:defRPr>
            </a:pPr>
            <a:r>
              <a:t>开户流程与前90天时间线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I. 关于诚智财富管理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286000" cy="10972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Microsoft YaHei"/>
              </a:defRPr>
            </a:pPr>
            <a:r>
              <a:t>$28亿+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管理资产规模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463040"/>
            <a:ext cx="2286000" cy="10972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Microsoft YaHei"/>
              </a:defRPr>
            </a:pPr>
            <a:r>
              <a:t>420+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服务家庭数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2286000" cy="10972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Microsoft YaHei"/>
              </a:defRPr>
            </a:pPr>
            <a:r>
              <a:t>$670万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平均客户资产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463040"/>
            <a:ext cx="2286000" cy="10972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Microsoft YaHei"/>
              </a:defRPr>
            </a:pPr>
            <a:r>
              <a:t>2008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成立年份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我们的投资理念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37560"/>
            <a:ext cx="13716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1. 分散化是唯一的免费午餐 — 科学配置降低风险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77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2. 过程比预测更重要 — 系统化投资流程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  3. 财务规划驱动投资决策 — 每个配置服务于您的人生目标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您的专属服务团队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49240"/>
            <a:ext cx="13716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532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  李明哲, CFA, CFP — 首席客户顾问（22年经验，退休规划与税务优化）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  张雨薇, CAIA — 投资分析师（12年经验，ESG投资与另类资产）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  陈志远, CPA — 税务策略顾问（18年经验，资本利得管理）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II. 理解您的需求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1887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C3E50"/>
                </a:solidFill>
                <a:latin typeface="Microsoft YaHei"/>
              </a:defRPr>
            </a:pPr>
            <a:r>
              <a:t>"我50岁了，距离退休还有15年。我的投资里有约300万美元，但几乎全在科技股上。这些年涨了很多，但我也越来越不安——如果科技板块调整，我的退休计划可能受到严重影响。"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— 王女士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我们识别的核心挑战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13716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2560320" cy="2286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25603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Microsoft YaHei"/>
              </a:defRPr>
            </a:pPr>
            <a:r>
              <a:t>集中风险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科技股占70%（约$210万），远超合理分散化水平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39" y="3474720"/>
            <a:ext cx="2560320" cy="2286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39" y="3474720"/>
            <a:ext cx="2560320" cy="54864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Microsoft YaHei"/>
              </a:defRPr>
            </a:pPr>
            <a:r>
              <a:t>税务困境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大量未实现资本利得，23.8%资本利得税率含NIIT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474720"/>
            <a:ext cx="2560320" cy="2286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3474720"/>
            <a:ext cx="256032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Microsoft YaHei"/>
              </a:defRPr>
            </a:pPr>
            <a:r>
              <a:t>退休倒计时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15年窗口需在增长与稳健间找到精确平衡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3474720"/>
            <a:ext cx="2560320" cy="2286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3474720"/>
            <a:ext cx="25603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Microsoft YaHei"/>
              </a:defRPr>
            </a:pPr>
            <a:r>
              <a:t>ESG整合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在不牺牲分散化和收益前提下整合ESG因素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Microsoft YaHei"/>
              </a:defRPr>
            </a:pPr>
            <a:r>
              <a:t>成功 = 65岁拥有$450-550万资产 + 组合回撤控制在25%以内 + 税务高效转型 + ESG一致性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III. 建议投资策略 — 资产配置方案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029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目标配置详情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691640"/>
            <a:ext cx="13716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874519"/>
            <a:ext cx="576072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89280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资产类别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9280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比例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928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9280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理由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240280"/>
            <a:ext cx="5760720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258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美国大盘股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585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258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iShares ESGU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58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核心权益+ESG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624328"/>
            <a:ext cx="5760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6426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国际发达市场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64261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6426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EEMG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426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地域分散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008376"/>
            <a:ext cx="5760720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0266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新兴市场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026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0266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iShares ESGE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0266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长期增长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392424"/>
            <a:ext cx="5760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4107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投资级债券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107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410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iShares EAGG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4107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稳定收益~4.5%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776472"/>
            <a:ext cx="5760720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379475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TIPS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79475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7947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iShares STIP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7947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通胀保护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160520"/>
            <a:ext cx="5760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4178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ESG主题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1788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1788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PBW + IXJ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178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清洁能源+医疗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4544568"/>
            <a:ext cx="5760720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45628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黄金/商品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5628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45628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SPDR GLD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5628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通胀对冲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4928616"/>
            <a:ext cx="5760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49469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REITs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49469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9469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Vanguard VNQ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9469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实物资产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5312664"/>
            <a:ext cx="5760720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5330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另类策略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5330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5330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AQR AQMIX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53309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下行保护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5696712"/>
            <a:ext cx="5760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0" y="5715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现金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5715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短期国债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5715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流动性储备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III. 策略详解 — 核心与卫星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566160" cy="5029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权益 — 增长引擎（50%）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核心45%：ESG筛选宽基指数ETF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覆盖美国、国际、新兴市场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卫星5%：清洁能源+医疗保健AI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ESG排除评分最低10-20%公司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对比当前70%科技股，大幅降低集中度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固收 — 稳定锚（25%）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近15年来最好的利率起点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10年期国债收益率约4.3%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投资级债+政府债组合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TIPS提供退休通胀保护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每年稳定票息收入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566160" cy="5029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566160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实物与另类 — 分散器（17%+5%现金）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黄金：$4,716/oz，YoY +41.86%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514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REITs：低相关性实物资产+分红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管理期货：危机alpha，股灾时正回报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20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5%现金：再平衡弹药+流动性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地缘不确定性的有效缓冲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III. 税务优化策略 — 关键差异化环节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Microsoft YaHei"/>
              </a:defRPr>
            </a:pPr>
            <a:r>
              <a:t>策略一：分批卖出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3-4年内每年卖出25-30%科技股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929E"/>
                </a:solidFill>
                <a:latin typeface="Microsoft YaHei"/>
              </a:defRPr>
            </a:pPr>
            <a:r>
              <a:t>优先卖出成本基础最高的批次，在收入较低年份加大卖出力度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731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Microsoft YaHei"/>
              </a:defRPr>
            </a:pPr>
            <a:r>
              <a:t>策略二：税务损失收割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多空TLH策略捕捉亏损抵消利得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929E"/>
                </a:solidFill>
                <a:latin typeface="Microsoft YaHei"/>
              </a:defRPr>
            </a:pPr>
            <a:r>
              <a:t>预计每年可抵消$5万-$10万资本利得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73152" cy="109728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Microsoft YaHei"/>
              </a:defRPr>
            </a:pPr>
            <a:r>
              <a:t>策略三：慈善捐赠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将增值科技股捐至DAF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17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929E"/>
                </a:solidFill>
                <a:latin typeface="Microsoft YaHei"/>
              </a:defRPr>
            </a:pPr>
            <a:r>
              <a:t>避免资本利得税 + 获得慈善抵扣，每年建议$5-10万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79"/>
            <a:ext cx="10515600" cy="10972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212079"/>
            <a:ext cx="73152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577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Microsoft YaHei"/>
              </a:defRPr>
            </a:pPr>
            <a:r>
              <a:t>策略四：资产定位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77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高收益债券放税延账户，指数ETF放应税账户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978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929E"/>
                </a:solidFill>
                <a:latin typeface="Microsoft YaHei"/>
              </a:defRPr>
            </a:pPr>
            <a:r>
              <a:t>Roth IRA放增长型权益，实现免税增长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核心目标：以最低税负完成从70%科技股集中持仓到全球分散组合的转型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III. 过渡计划 — 从集中到分散（3-4年）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0584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2331720"/>
            <a:ext cx="4572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第1年</a:t>
            </a:r>
            <a:br/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卖出约30%科技股</a:t>
            </a:r>
            <a:br/>
            <a:r>
              <a:t>建立固收和实物资产核心</a:t>
            </a:r>
            <a:br/>
            <a:r>
              <a:t>科技股降至~50%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331720"/>
            <a:ext cx="4572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第2年</a:t>
            </a:r>
            <a:br/>
            <a: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继续卖出</a:t>
            </a:r>
            <a:br/>
            <a:r>
              <a:t>建立国际和新兴市场敞口</a:t>
            </a:r>
            <a:br/>
            <a:r>
              <a:t>科技股降至~30%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331720"/>
            <a:ext cx="457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第3年</a:t>
            </a:r>
            <a:br/>
            <a:r>
              <a:t>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接近目标配置</a:t>
            </a:r>
            <a:br/>
            <a:r>
              <a:t>微调另类资产</a:t>
            </a:r>
            <a:br/>
            <a:r>
              <a:t>科技股降至~15%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40" y="2331720"/>
            <a:ext cx="457200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第4年</a:t>
            </a:r>
            <a:br/>
            <a:r>
              <a:t>2029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完成过渡</a:t>
            </a:r>
            <a:br/>
            <a:r>
              <a:t>进入维护模式</a:t>
            </a:r>
            <a:br/>
            <a:r>
              <a:t>持续再平衡+TLH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1371600" y="4389120"/>
          <a:ext cx="914400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IV. 预期收益情景 — 三种情景分析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保守情景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基准情景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乐观情景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0515600" cy="438912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年化总回报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86C1"/>
                </a:solidFill>
                <a:latin typeface="Microsoft YaHei"/>
              </a:defRPr>
            </a:pPr>
            <a:r>
              <a:t>6.5%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8.5%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86000"/>
            <a:ext cx="10515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年化波动率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86C1"/>
                </a:solidFill>
                <a:latin typeface="Microsoft YaHei"/>
              </a:defRPr>
            </a:pPr>
            <a:r>
              <a:t>10.5%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12.0%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515600" cy="438912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最大回撤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-12%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86C1"/>
                </a:solidFill>
                <a:latin typeface="Microsoft YaHei"/>
              </a:defRPr>
            </a:pPr>
            <a:r>
              <a:t>-18%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-25%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00400"/>
            <a:ext cx="10515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15年期末价值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$540万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C1"/>
                </a:solidFill>
                <a:latin typeface="Microsoft YaHei"/>
              </a:defRPr>
            </a:pPr>
            <a:r>
              <a:t>$790万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$1,020万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657600"/>
            <a:ext cx="10515600" cy="438912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退休年收入能力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$16.2万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86C1"/>
                </a:solidFill>
                <a:latin typeface="Microsoft YaHei"/>
              </a:defRPr>
            </a:pPr>
            <a:r>
              <a:t>$23.7万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$30.6万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114800"/>
            <a:ext cx="10515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达成$450万目标概率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&gt;95%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86C1"/>
                </a:solidFill>
                <a:latin typeface="Microsoft YaHei"/>
              </a:defRPr>
            </a:pPr>
            <a:r>
              <a:t>&gt;99%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&gt;99%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蒙特卡洛模拟摘要（10,000次模拟）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166360"/>
            <a:ext cx="18288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  65岁时组合中位数价值：$720万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650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  90%置信区间：$480万 - $1,150万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9984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  达成退休收入目标（$12万/年）概率：94%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63459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  组合在任何时点下跌超过30%的概率：从约35%降至约8%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IV. 建议组合 vs. 当前持仓 — 风险改善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关键改善指标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783080"/>
            <a:ext cx="13716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011680"/>
            <a:ext cx="4389120" cy="6400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029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波动率降低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2029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-52%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331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从22%降至10.5%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743200"/>
            <a:ext cx="4389120" cy="6400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761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夏普比率提升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761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+83%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063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从0.30提升至0.55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474720"/>
            <a:ext cx="4389120" cy="6400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349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科技集中度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3493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-89%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794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从70%降至~8%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4206240"/>
            <a:ext cx="4389120" cy="6400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固收保护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4224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从无到有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526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0% →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937760"/>
            <a:ext cx="4389120" cy="6400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4956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地域分散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9560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大幅改善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257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全美 → 全球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Microsoft YaHei"/>
              </a:defRPr>
            </a:pPr>
            <a:r>
              <a:t>注意：以上为基于历史数据和市场假设的风险估算，不代表对未来业绩的保证。资本市场假设综合参考J.P. Morgan、AQR、Vanguard、PGIM等机构2026年发布的LTCMA报告。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IV. 退休收入规划 — 65岁退休时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Microsoft YaHei"/>
              </a:defRPr>
            </a:pPr>
            <a:r>
              <a:t>基准情景：$790万组合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74519"/>
            <a:ext cx="13716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4%法则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$316,000/年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&gt;30年（95%概率）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3.5%法则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$276,500/年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&gt;30年（99%概率）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动态提取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$200,000-$350,000/年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&gt;30年（97%概率）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474720"/>
            <a:ext cx="45720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930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推荐：动态提取策略（通胀+市场联动）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17920" y="13716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关键假设与数据来源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12080"/>
            <a:ext cx="13716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49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  初始投资：$300万（扣除过渡期税务成本后的净投入）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692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  市场假设综合参考：J.P. Morgan 2026 LTCMA、AQR CMA、Vanguard VCMM、PGIM CMA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  S&amp;P 500最新数据：7,398.93（2026年5月8日），1年涨幅+30.63%（WSJ/Investing.com）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30935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5929E"/>
                </a:solidFill>
                <a:latin typeface="Microsoft YaHei"/>
              </a:defRPr>
            </a:pPr>
            <a:r>
              <a:t>  退休提取假设基于4%法则及动态调整模型，实际结果可能显著不同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V. 费用结构 — 透明、合理、有竞争力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顾问费（分层AUM费率）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前$50万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5623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1.00%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5623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$5,000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67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$50万-$100万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67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267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$4,500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50292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919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$100万-$300万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791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791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$16,000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063240"/>
            <a:ext cx="502920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906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合计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090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加权0.85%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090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A01E"/>
                </a:solidFill>
                <a:latin typeface="Microsoft YaHei"/>
              </a:defRPr>
            </a:pPr>
            <a:r>
              <a:t>$25,500/年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总费用估算（含底层基金费用）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50292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42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诚智顾问费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42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$25,500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142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0.85%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26280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53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ETF/基金费用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553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$3,900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553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0.13%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937760"/>
            <a:ext cx="50292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65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交易成本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965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$600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965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0.02%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349240"/>
            <a:ext cx="5029200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3766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总费用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5376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$30,000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376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行业费率对比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1783080"/>
            <a:ext cx="13716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2011680"/>
            <a:ext cx="530352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0299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行业平均（$1M）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029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5929E"/>
                </a:solidFill>
                <a:latin typeface="Microsoft YaHei"/>
              </a:defRPr>
            </a:pPr>
            <a:r>
              <a:t>0.85%-1.25%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22860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6C1"/>
                </a:solidFill>
                <a:latin typeface="Microsoft YaHei"/>
              </a:defRPr>
            </a:pPr>
            <a:r>
              <a:t>您：0.85%（低端）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651760"/>
            <a:ext cx="530352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26700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大型券商私人银行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26700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5929E"/>
                </a:solidFill>
                <a:latin typeface="Microsoft YaHei"/>
              </a:defRPr>
            </a:pPr>
            <a:r>
              <a:t>0.90%-1.50%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29260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6C1"/>
                </a:solidFill>
                <a:latin typeface="Microsoft YaHei"/>
              </a:defRPr>
            </a:pPr>
            <a:r>
              <a:t>您：低于此区间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291840"/>
            <a:ext cx="530352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3310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纯Robo-Advisor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33101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5929E"/>
                </a:solidFill>
                <a:latin typeface="Microsoft YaHei"/>
              </a:defRPr>
            </a:pPr>
            <a:r>
              <a:t>0.25%-0.50%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35661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6C1"/>
                </a:solidFill>
                <a:latin typeface="Microsoft YaHei"/>
              </a:defRPr>
            </a:pPr>
            <a:r>
              <a:t>不含个性化规划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931920"/>
            <a:ext cx="530352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395020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同规模独立RIA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395020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5929E"/>
                </a:solidFill>
                <a:latin typeface="Microsoft YaHei"/>
              </a:defRPr>
            </a:pPr>
            <a:r>
              <a:t>0.80%-1.10%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206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6C1"/>
                </a:solidFill>
                <a:latin typeface="Microsoft YaHei"/>
              </a:defRPr>
            </a:pPr>
            <a:r>
              <a:t>您：处于低端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您的年费包含：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5120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投资组合构建、执行与持续监控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3949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退休规划与进度追踪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566927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税务优化（TLH、资产定位）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5943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集中持仓减持管理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6217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ESG整合与年度影响力报告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6492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季度面对面回顾会议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VI. 如何开始 — 您的下一步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签署协议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第1-3天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签署投资管理协议</a:t>
            </a:r>
            <a:br/>
            <a:r>
              <a:t>完成合规文件</a:t>
            </a:r>
            <a:br/>
            <a:r>
              <a:t>确认投资政策声明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743200" cy="2743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账户开立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98DB"/>
                </a:solidFill>
                <a:latin typeface="Microsoft YaHei"/>
              </a:defRPr>
            </a:pPr>
            <a:r>
              <a:t>第4-15天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在Schwab开立账户</a:t>
            </a:r>
            <a:br/>
            <a:r>
              <a:t>ACAT in-kind转账</a:t>
            </a:r>
            <a:br/>
            <a:r>
              <a:t>无需卖出即可转移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2743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743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制定过渡计划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第2-3周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精确分批卖出计划</a:t>
            </a:r>
            <a:br/>
            <a:r>
              <a:t>ESG偏好确认</a:t>
            </a:r>
            <a:br/>
            <a:r>
              <a:t>TLH监控参数设置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743200" cy="2743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743200" cy="457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开始执行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E"/>
                </a:solidFill>
                <a:latin typeface="Microsoft YaHei"/>
              </a:defRPr>
            </a:pPr>
            <a:r>
              <a:t>第4周起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2860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第一批再平衡</a:t>
            </a:r>
            <a:br/>
            <a:r>
              <a:t>TLH全面启动</a:t>
            </a:r>
            <a:br/>
            <a:r>
              <a:t>组合监控仪表板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前90天关键里程碑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13716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第1天：正式签署协议 | 第3天：托管账户开立完成 | 第7天：资产全部到账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第14天：第一批再平衡交易执行 | 第30天：首次月度报告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第60天：第二批再平衡完成，TLH全面启动 | 第90天：首次面对面季度回顾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035040"/>
            <a:ext cx="1051560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80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建议行动：本周内审阅建议书 → 下周安排第二次会面 → 两周内签署协议</a:t>
            </a:r>
            <a:br/>
            <a:r>
              <a:t>目标：2026年6月底前完成第一批再平衡交易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