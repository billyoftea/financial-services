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市场份额</c:v>
                </c:pt>
              </c:strCache>
            </c:strRef>
          </c:tx>
          <c:dPt>
            <c:idx val="0"/>
            <c:spPr>
              <a:solidFill>
                <a:srgbClr val="FF9900"/>
              </a:solidFill>
            </c:spPr>
          </c:dPt>
          <c:dPt>
            <c:idx val="1"/>
            <c:spPr>
              <a:solidFill>
                <a:srgbClr val="0089D6"/>
              </a:solidFill>
            </c:spPr>
          </c:dPt>
          <c:dPt>
            <c:idx val="2"/>
            <c:spPr>
              <a:solidFill>
                <a:srgbClr val="4285F4"/>
              </a:solidFill>
            </c:spPr>
          </c:dPt>
          <c:dPt>
            <c:idx val="3"/>
            <c:spPr>
              <a:solidFill>
                <a:srgbClr val="CCCCCC"/>
              </a:solidFill>
            </c:spPr>
          </c:dPt>
          <c:cat>
            <c:strRef>
              <c:f>Sheet1!$A$2:$A$5</c:f>
              <c:strCache>
                <c:ptCount val="4"/>
                <c:pt idx="0">
                  <c:v>AWS</c:v>
                </c:pt>
                <c:pt idx="1">
                  <c:v>Azure</c:v>
                </c:pt>
                <c:pt idx="2">
                  <c:v>GCP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20</c:v>
                </c:pt>
                <c:pt idx="2">
                  <c:v>13</c:v>
                </c:pt>
                <c:pt idx="3">
                  <c:v>37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年云营收（亿美元）</c:v>
                </c:pt>
              </c:strCache>
            </c:strRef>
          </c:tx>
          <c:dPt>
            <c:idx val="0"/>
            <c:spPr>
              <a:solidFill>
                <a:srgbClr val="FF9900"/>
              </a:solidFill>
            </c:spPr>
          </c:dPt>
          <c:dPt>
            <c:idx val="1"/>
            <c:spPr>
              <a:solidFill>
                <a:srgbClr val="0089D6"/>
              </a:solidFill>
            </c:spPr>
          </c:dPt>
          <c:dPt>
            <c:idx val="2"/>
            <c:spPr>
              <a:solidFill>
                <a:srgbClr val="4285F4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13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AWS</c:v>
                </c:pt>
                <c:pt idx="1">
                  <c:v>Azure</c:v>
                </c:pt>
                <c:pt idx="2">
                  <c:v>Google Cloud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1287</c:v>
                </c:pt>
                <c:pt idx="1">
                  <c:v>750</c:v>
                </c:pt>
                <c:pt idx="2">
                  <c:v>450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亿美元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YoY增长率 (%)</c:v>
                </c:pt>
              </c:strCache>
            </c:strRef>
          </c:tx>
          <c:dPt>
            <c:idx val="0"/>
            <c:spPr>
              <a:solidFill>
                <a:srgbClr val="FF9900"/>
              </a:solidFill>
            </c:spPr>
          </c:dPt>
          <c:dPt>
            <c:idx val="1"/>
            <c:spPr>
              <a:solidFill>
                <a:srgbClr val="0089D6"/>
              </a:solidFill>
            </c:spPr>
          </c:dPt>
          <c:dPt>
            <c:idx val="2"/>
            <c:spPr>
              <a:solidFill>
                <a:srgbClr val="4285F4"/>
              </a:solidFill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13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AWS</c:v>
                </c:pt>
                <c:pt idx="1">
                  <c:v>Azure</c:v>
                </c:pt>
                <c:pt idx="2">
                  <c:v>Google Cloud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33.5</c:v>
                </c:pt>
                <c:pt idx="2">
                  <c:v>63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P/E (TTM)</c:v>
                </c:pt>
              </c:strCache>
            </c:strRef>
          </c:tx>
          <c:dPt>
            <c:idx val="0"/>
            <c:spPr>
              <a:solidFill>
                <a:srgbClr val="FF9900"/>
              </a:solidFill>
            </c:spPr>
          </c:dPt>
          <c:dPt>
            <c:idx val="1"/>
            <c:spPr>
              <a:solidFill>
                <a:srgbClr val="0089D6"/>
              </a:solidFill>
            </c:spPr>
          </c:dPt>
          <c:dPt>
            <c:idx val="2"/>
            <c:spPr>
              <a:solidFill>
                <a:srgbClr val="4285F4"/>
              </a:solidFill>
            </c:spPr>
          </c:dPt>
          <c:dLbls>
            <c:numFmt formatCode="0.0&quot;x&quot;" sourceLinked="0"/>
            <c:txPr>
              <a:bodyPr/>
              <a:lstStyle/>
              <a:p>
                <a:pPr>
                  <a:defRPr sz="14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AWS (AMZN)</c:v>
                </c:pt>
                <c:pt idx="1">
                  <c:v>Azure (MSFT)</c:v>
                </c:pt>
                <c:pt idx="2">
                  <c:v>GCP (GOOGL)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28.2</c:v>
                </c:pt>
                <c:pt idx="1">
                  <c:v>29.6</c:v>
                </c:pt>
                <c:pt idx="2">
                  <c:v>21.7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00"/>
                </a:pPr>
                <a:r>
                  <a:t>P/E 倍数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云计算基础设施行业竞争格局分析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86C00"/>
                </a:solidFill>
                <a:latin typeface="Calibri"/>
              </a:defRPr>
            </a:pPr>
            <a:r>
              <a:t>AWS  vs  Azure  vs  Google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164592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3749039"/>
            <a:ext cx="1645920" cy="109728"/>
          </a:xfrm>
          <a:prstGeom prst="rect">
            <a:avLst/>
          </a:prstGeom>
          <a:solidFill>
            <a:srgbClr val="008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3749039"/>
            <a:ext cx="1645920" cy="10972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3931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CC"/>
                </a:solidFill>
                <a:latin typeface="Calibri"/>
              </a:defRPr>
            </a:pPr>
            <a:r>
              <a:t>分析日期：2026年5月10日  |  数据截止：FY2025 / Q1 CY2025  |  投资专业版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数据来源：Amazon IR FY2025, Microsoft IR FY25 Q3, Alphabet IR Q1 2026, Synergy Research (2025.11)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全球云市场突破4,000亿美元，AI成为核心增长引擎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2025年市场规模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~$4,190亿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YoY增长率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65A"/>
                </a:solidFill>
                <a:latin typeface="Calibri"/>
              </a:defRPr>
            </a:pPr>
            <a:r>
              <a:t>~20-22%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88720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三巨头合计份额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Calibri"/>
              </a:defRPr>
            </a:pPr>
            <a:r>
              <a:t>63%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188720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预计2027年规模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~$5,500-6,000亿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57200" y="2286000"/>
          <a:ext cx="50292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增长驱动力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1. AI/生成式AI工作负载 — 最大的增量需求来源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 GPU基础设施和AI平台消费爆发式增长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2. 企业数字化转型 — 持续结构性趋势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 传统IT向云迁移仍在加速中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3. 混合云/多云策略 — 扩大总可触达市场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 企业采用多云架构推动整体市场扩容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4. 边缘计算 — 新兴增长点</a:t>
            </a:r>
          </a:p>
          <a:p>
            <a:pPr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   IoT和实时应用驱动边缘云需求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来源：Synergy Research Group (2025.11); Gartner; 行业共识估算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AWS规模领先但增速放缓，GCP增速爆发、Azure最为均衡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9260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 (AMZN)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(MSFT)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 Cloud (GOOGL)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FY2025云营收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$1,287亿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~$750亿+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~$450亿(年化)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最新季度营收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$356亿 (Q4'25)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$309亿 (IC, FY25Q3)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$200.3亿 (Q1'26)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YoY增长率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+20% (全年) / +24% (Q4)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+33-34%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+63%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运营利润率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~35.9%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~45% (IC segment)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~33%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市场份额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~29-30%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~13%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AI对增长贡献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未单独披露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16个百分点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显著但未量化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P/E (TTM)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~28.2x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~29.6x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~21.7x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自研芯片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Graviton4, Trainium2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Maia 100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TPU v5p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来源：Amazon IR FY2025; Microsoft IR FY25 Q3; Alphabet IR Q1 2026; Synergy Research (2025.11)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AWS营收规模约为GCP的2.9倍，但增速差距正在缩小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303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188720"/>
          <a:ext cx="53035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来源：Amazon IR FY2025; Microsoft IR FY25 Q3; Alphabet IR Q1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AWS：利润机器稳健运转，但增速落后于AI时代的竞争者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4572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FY2025营收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$1,287亿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YoY增长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+20% / Q4 +24%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运营利润率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~35.9%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年化运行率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~$1,420亿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市场份额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~29-30%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数据中心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33区域 / 105可用区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自研芯片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Graviton4, Trainium2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1887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A65A"/>
                </a:solidFill>
                <a:latin typeface="Calibri"/>
              </a:defRPr>
            </a:pPr>
            <a:r>
              <a:t>核心优势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最早进入者，生态最成熟（200+服务）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运营利润率行业最高（35.9%）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自研芯片战略降低成本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CC3333"/>
                </a:solidFill>
                <a:latin typeface="Calibri"/>
              </a:defRPr>
            </a:pPr>
            <a:r>
              <a:t>核心劣势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增速在三巨头中最低（+20%）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缺乏原生SaaS应用层绑定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无自研基础大模型（依赖Anthropic）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E75B6"/>
                </a:solidFill>
                <a:latin typeface="Calibri"/>
              </a:defRPr>
            </a:pPr>
            <a:r>
              <a:t>当前战略重点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AI基础设施扩张（Trainium芯片）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自研Nova大模型系列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企业级客户深化与Bedrock平台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来源：Amazon IR FY2025年报; Synergy Research (2025.11)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Azure：AI变现的最佳平台，OpenAI+Copilot构建独特护城河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4572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Azure年营收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&gt;$750亿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YoY增长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+34%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AI对增长贡献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16个百分点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智能云营收(FY25Q3)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$309亿, +21% YoY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Cloud毛利率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69% (同比-3pp)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市场份额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~20%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数据中心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60+区域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1887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A65A"/>
                </a:solidFill>
                <a:latin typeface="Calibri"/>
              </a:defRPr>
            </a:pPr>
            <a:r>
              <a:t>核心优势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企业客户关系最深（M365生态绑定）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OpenAI独家合作，最强AI能力接入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混合云能力领先（Azure Arc）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CC3333"/>
                </a:solidFill>
                <a:latin typeface="Calibri"/>
              </a:defRPr>
            </a:pPr>
            <a:r>
              <a:t>核心劣势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毛利率同比下降3个百分点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对OpenAI关系依赖度较高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纯IaaS市场心智份额低于AWS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E75B6"/>
                </a:solidFill>
                <a:latin typeface="Calibri"/>
              </a:defRPr>
            </a:pPr>
            <a:r>
              <a:t>当前战略重点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Copilot全面整合M365/Dynamics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AI Foundry企业AI应用平台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Maia自研AI芯片降低成本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来源：Microsoft IR FY25 Q3; Synergy Research (2025.11)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GCP：增速爆发的追赶者，从亏损到盈利的质变时刻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4572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Q1 2026营收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$200.3亿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YoY增长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+63%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运营利润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$66亿 (同期$22亿)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运营利润率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~33%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市场份额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~13%</a:t>
                      </a:r>
                    </a:p>
                  </a:txBody>
                  <a:tcPr anchor="ctr"/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年化运行率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~$800亿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自研芯片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TPU v5p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1887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A65A"/>
                </a:solidFill>
                <a:latin typeface="Calibri"/>
              </a:defRPr>
            </a:pPr>
            <a:r>
              <a:t>核心优势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AI/ML技术基因最强（Gemini + TPU）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数据分析栈领先（BigQuery, Looker）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增速最快（+63%），利润率快速提升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CC3333"/>
                </a:solidFill>
                <a:latin typeface="Calibri"/>
              </a:defRPr>
            </a:pPr>
            <a:r>
              <a:t>核心劣势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市场份额仍小（13%）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企业销售能力弱于Microsoft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生态合作伙伴网络不足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E75B6"/>
                </a:solidFill>
                <a:latin typeface="Calibri"/>
              </a:defRPr>
            </a:pPr>
            <a:r>
              <a:t>当前战略重点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AI平台差异化（Vertex AI + Gemini）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企业客户拓展（Salesforce/SAP合作）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TPU芯片成本优势深化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来源：Alphabet IR Q1 2026; Synergy Research (2025.11)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AI已成为云竞争的核心战场，三者路径分化明显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AI维度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GCP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基础模型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Nova（自研）+ Anthropic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GPT（OpenAI）+ Phi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Gemini（自研）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AI芯片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Trainium2, Inferentia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Maia 100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TPU v5p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Bedrock, SageMaker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 AI Foundry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Vertex AI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AI营收贡献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未单独披露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16个百分点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显著但未量化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差异化定位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最广泛的模型选择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企业AI应用领先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技术/成本领先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AI合作伙伴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Anthropic ($40亿)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OpenAI ($130亿+)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自研为主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关键洞察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Azure通过OpenAI合作实现了AI变现的最快路径，Copilot正从概念走向产品化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AWS选择'模型超市'策略（Bedrock），避免对单一模型厂商的依赖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GCP凭借TPU和Gemini实现技术差异化，垂直整合程度最高（芯片-模型-平台）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三家均在大幅增加AI资本开支：Amazon计划$2,000亿总capex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来源：各公司财报电话会议; 行业研究报告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AWS以规模和利润率领先，Azure生态绑定最深，GCP增速与技术突出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200400"/>
                <a:gridCol w="32004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 (AMZN)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 (MSFT)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GCP (GOOGL)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$1,287亿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●●○ ~$750亿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●○○ ~$450亿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增速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●○○ +20%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+33-34%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+63%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利润率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35.9%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~45% (IC)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●●○ 33%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AI能力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●●○ Anthropic合作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OpenAI/Copilot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Gemini/TPU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生态深度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最广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Office/M365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●○○ 建设中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企业销售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最强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●○○ 弱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开发者心智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领先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●●○ 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●●○ Kubernetes</a:t>
                      </a: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估值吸引力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●○○ 28.2x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●○○ 29.6x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●●● 21.7x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来源：综合分析; 各公司财报; Synergy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护城河评估：AWS与Azure具有持久优势，GCP护城河正在加深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护城河维度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Azure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GCP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网络效应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 — 最大用户基础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 — M365生态飞轮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中等 — K8s生态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转换成本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 — 深度架构集成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极强 — AD/M365绑定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中等 — 技术标准化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规模经济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极强 — 最低单位成本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 — 第二大规模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中等 — 改善中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无形资产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 — 品牌认知第一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 — 企业信任度最高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 — AI/ML技术品牌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综合评级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强-极强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中等-强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持久优势与结构性脆弱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AWS — 稳健的现金牛，规模护城河最深，但缺乏应用层绑定，增速持续放缓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Azure — 企业AI变现最佳定位，M365绑定创造最高转换成本，但毛利率受AI投资侵蚀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GCP — 增速最快的追赶者，技术差异化（TPU/Gemini）独特，估值最具吸引力（P/E 21.7x）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来源：综合分析; 各公司财报; 投资研究报告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GOOGL估值最具吸引力（P/E 21.7x），AMZN与MSFT估值相当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303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估值关键观察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4285F4"/>
                </a:solidFill>
                <a:latin typeface="Calibri"/>
              </a:defRPr>
            </a:pPr>
            <a:r>
              <a:t>GOOGL (P/E 21.7x)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三者中估值最低，反映市场对其AI变现路径的不确定性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但Cloud增速+63%远超预期，可能存在重估空间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风险回报比最佳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FF9900"/>
                </a:solidFill>
                <a:latin typeface="Calibri"/>
              </a:defRPr>
            </a:pPr>
            <a:r>
              <a:t>AMZN (P/E 28.2x)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P/E已从2023年的48.4x压缩至28.2x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EV/Revenue 4.0x反映AWS的规模价值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EPS预计2025-2027年增长31%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089D6"/>
                </a:solidFill>
                <a:latin typeface="Calibri"/>
              </a:defRPr>
            </a:pPr>
            <a:r>
              <a:t>MSFT (P/E 29.6x)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最高估值反映Azure AI变现预期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溢价来自Copilot和OpenAI独家优势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约30%上行空间（分析师共识）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来源：Yahoo Finance; FinanceCharts; TipRanks; 各公司财报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情景分析：AI需求持续性是三者的共同关键变量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9900"/>
                </a:solidFill>
                <a:latin typeface="Calibri"/>
              </a:defRPr>
            </a:pPr>
            <a:r>
              <a:t>AWS (AMZN) 情景分析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乐观 (25%) — AI加速增长，利润率扩张至38%+，Q4 +24%趋势延续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基准 (50%) — 维持+18-22%稳态增长，份额缓降至27-28%，利润率35-36%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悲观 (25%) — AI需求不及预期，份额被蚕食，利润率压缩至32-33%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89D6"/>
                </a:solidFill>
                <a:latin typeface="Calibri"/>
              </a:defRPr>
            </a:pPr>
            <a:r>
              <a:t>Azure (MSFT) 情景分析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乐观 (30%) — Copilot全面渗透，Azure增速维持30%+，AI营收占比突破20%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基准 (45%) — 增速逐步放缓至25-30%，利润率在AI投资和规模效应间平衡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悲观 (25%) — OpenAI关系生变，AI投入过度致利润率下降，变现慢于预期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85F4"/>
                </a:solidFill>
                <a:latin typeface="Calibri"/>
              </a:defRPr>
            </a:pPr>
            <a:r>
              <a:t>Google Cloud (GOOGL) 情景分析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乐观 (30%) — +60%增速持续2-3年，TPU/Gemini技术优势兑现，份额突破15%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基准 (45%) — 增速回归至35-40%，份额稳定在13-14%，利润率维持30-35%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悲观 (25%) — 增速快速回落至25%以下（基数效应+竞争），亏损风险再现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2A4A"/>
                </a:solidFill>
                <a:latin typeface="Calibri"/>
              </a:defRPr>
            </a:pPr>
            <a:r>
              <a:t>投资启示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风险规避型投资者 → AWS（最稳健的利润机器，35.9%运营利润率）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平衡型投资者 → Azure（AI变现最佳路径，但估值已反映部分预期）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- 高回报偏好投资者 → GCP（最佳风险回报比，P/E 21.7x，增速+63%）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来源：综合分析; 各公司财报; 分析师共识估算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云计算三巨头各具特色，AI将成为决定最终格局的关键变量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85F4"/>
                </a:solidFill>
                <a:latin typeface="Calibri"/>
              </a:defRPr>
            </a:pPr>
            <a:r>
              <a:t>规模之王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营收$1,287亿，份额30%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利润率35.9%行业最高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稳健的现金流生成器</a:t>
            </a:r>
          </a:p>
          <a:p>
            <a:pPr>
              <a:spcAft>
                <a:spcPts val="400"/>
              </a:spcAft>
              <a:defRPr sz="1300" b="0">
                <a:solidFill>
                  <a:srgbClr val="CC3333"/>
                </a:solidFill>
                <a:latin typeface="Calibri"/>
              </a:defRPr>
            </a:pPr>
            <a:r>
              <a:t>风险：增速放缓至+20%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85F4"/>
                </a:solidFill>
                <a:latin typeface="Calibri"/>
              </a:defRPr>
            </a:pPr>
            <a:r>
              <a:t>AI变现之王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增速+33%，AI贡献16pp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M365生态绑定最深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Copilot驱动企业AI落地</a:t>
            </a:r>
          </a:p>
          <a:p>
            <a:pPr>
              <a:spcAft>
                <a:spcPts val="400"/>
              </a:spcAft>
              <a:defRPr sz="1300" b="0">
                <a:solidFill>
                  <a:srgbClr val="CC3333"/>
                </a:solidFill>
                <a:latin typeface="Calibri"/>
              </a:defRPr>
            </a:pPr>
            <a:r>
              <a:t>风险：毛利率承压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285F4"/>
                </a:solidFill>
                <a:latin typeface="Calibri"/>
              </a:defRPr>
            </a:pPr>
            <a:r>
              <a:t>增速之王</a:t>
            </a:r>
          </a:p>
          <a:p>
            <a:pPr>
              <a:spcAft>
                <a:spcPts val="400"/>
              </a:spcAft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增速+63%，利润率33%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TPU/Gemini技术领先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估值最低 P/E 21.7x</a:t>
            </a:r>
          </a:p>
          <a:p>
            <a:pPr>
              <a:spcAft>
                <a:spcPts val="400"/>
              </a:spcAft>
              <a:defRPr sz="1300" b="0">
                <a:solidFill>
                  <a:srgbClr val="CC3333"/>
                </a:solidFill>
                <a:latin typeface="Calibri"/>
              </a:defRPr>
            </a:pPr>
            <a:r>
              <a:t>风险：份额小(13%)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核心结论：AI正在重塑云计算竞争格局。AWS以规模和利润率防守，Azure以生态和AI应用进攻，GCP以技术和增速追赶。未来2-3年，AI变现能力和基础设施投入的平衡将决定最终座次。从估值角度看，GOOGL提供最佳风险回报比（P/E 21.7x vs AMZN 28.2x vs MSFT 29.6x）。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分析日期：2026年5月10日 | 数据来源：Amazon IR, Microsoft IR, Alphabet IR, Synergy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